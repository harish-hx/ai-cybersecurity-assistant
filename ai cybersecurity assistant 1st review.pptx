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69" r:id="rId2"/>
    <p:sldId id="257" r:id="rId3"/>
    <p:sldId id="258" r:id="rId4"/>
    <p:sldId id="266" r:id="rId5"/>
    <p:sldId id="259" r:id="rId6"/>
    <p:sldId id="267" r:id="rId7"/>
    <p:sldId id="260" r:id="rId8"/>
    <p:sldId id="272" r:id="rId9"/>
    <p:sldId id="271" r:id="rId10"/>
    <p:sldId id="273" r:id="rId11"/>
    <p:sldId id="261" r:id="rId12"/>
    <p:sldId id="270" r:id="rId13"/>
    <p:sldId id="263" r:id="rId14"/>
    <p:sldId id="268" r:id="rId15"/>
    <p:sldId id="26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EA1073-3319-43A2-80B4-31E80A08DEBB}" v="10" dt="2026-08-21T05:25:51.5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sh babu" userId="9fd9bf826ad1fefb" providerId="LiveId" clId="{38E55BDF-70BF-4560-8B8E-3186CC4C51A8}"/>
    <pc:docChg chg="undo redo custSel addSld modSld sldOrd">
      <pc:chgData name="harish babu" userId="9fd9bf826ad1fefb" providerId="LiveId" clId="{38E55BDF-70BF-4560-8B8E-3186CC4C51A8}" dt="2026-08-21T05:28:58.446" v="173" actId="1076"/>
      <pc:docMkLst>
        <pc:docMk/>
      </pc:docMkLst>
      <pc:sldChg chg="ord">
        <pc:chgData name="harish babu" userId="9fd9bf826ad1fefb" providerId="LiveId" clId="{38E55BDF-70BF-4560-8B8E-3186CC4C51A8}" dt="2026-08-21T04:41:52.686" v="1"/>
        <pc:sldMkLst>
          <pc:docMk/>
          <pc:sldMk cId="2389863912" sldId="259"/>
        </pc:sldMkLst>
      </pc:sldChg>
      <pc:sldChg chg="modSp mod">
        <pc:chgData name="harish babu" userId="9fd9bf826ad1fefb" providerId="LiveId" clId="{38E55BDF-70BF-4560-8B8E-3186CC4C51A8}" dt="2026-08-21T05:10:19.305" v="43" actId="404"/>
        <pc:sldMkLst>
          <pc:docMk/>
          <pc:sldMk cId="4094199927" sldId="260"/>
        </pc:sldMkLst>
        <pc:spChg chg="mod">
          <ac:chgData name="harish babu" userId="9fd9bf826ad1fefb" providerId="LiveId" clId="{38E55BDF-70BF-4560-8B8E-3186CC4C51A8}" dt="2026-08-21T05:10:19.305" v="43" actId="404"/>
          <ac:spMkLst>
            <pc:docMk/>
            <pc:sldMk cId="4094199927" sldId="260"/>
            <ac:spMk id="2" creationId="{B5869CFF-ECBC-69A6-C9A2-EB83A1C888A9}"/>
          </ac:spMkLst>
        </pc:spChg>
        <pc:picChg chg="mod">
          <ac:chgData name="harish babu" userId="9fd9bf826ad1fefb" providerId="LiveId" clId="{38E55BDF-70BF-4560-8B8E-3186CC4C51A8}" dt="2026-08-21T05:08:51.516" v="33" actId="14100"/>
          <ac:picMkLst>
            <pc:docMk/>
            <pc:sldMk cId="4094199927" sldId="260"/>
            <ac:picMk id="9" creationId="{DD908E3A-CF3D-1FEC-FC25-04CD1F86EBD3}"/>
          </ac:picMkLst>
        </pc:picChg>
      </pc:sldChg>
      <pc:sldChg chg="addSp delSp modSp add mod">
        <pc:chgData name="harish babu" userId="9fd9bf826ad1fefb" providerId="LiveId" clId="{38E55BDF-70BF-4560-8B8E-3186CC4C51A8}" dt="2026-08-21T04:45:15.812" v="26" actId="1076"/>
        <pc:sldMkLst>
          <pc:docMk/>
          <pc:sldMk cId="968199429" sldId="270"/>
        </pc:sldMkLst>
        <pc:spChg chg="mod">
          <ac:chgData name="harish babu" userId="9fd9bf826ad1fefb" providerId="LiveId" clId="{38E55BDF-70BF-4560-8B8E-3186CC4C51A8}" dt="2026-08-21T04:45:15.812" v="26" actId="1076"/>
          <ac:spMkLst>
            <pc:docMk/>
            <pc:sldMk cId="968199429" sldId="270"/>
            <ac:spMk id="2" creationId="{77779C48-EB42-7DA4-025A-98ACE4431C6E}"/>
          </ac:spMkLst>
        </pc:spChg>
        <pc:graphicFrameChg chg="add del mod">
          <ac:chgData name="harish babu" userId="9fd9bf826ad1fefb" providerId="LiveId" clId="{38E55BDF-70BF-4560-8B8E-3186CC4C51A8}" dt="2026-08-21T04:43:21.429" v="8" actId="478"/>
          <ac:graphicFrameMkLst>
            <pc:docMk/>
            <pc:sldMk cId="968199429" sldId="270"/>
            <ac:graphicFrameMk id="3" creationId="{E825623E-3FCA-BAD8-0D63-1798557D731A}"/>
          </ac:graphicFrameMkLst>
        </pc:graphicFrameChg>
        <pc:graphicFrameChg chg="add del">
          <ac:chgData name="harish babu" userId="9fd9bf826ad1fefb" providerId="LiveId" clId="{38E55BDF-70BF-4560-8B8E-3186CC4C51A8}" dt="2026-08-21T04:43:36.690" v="10" actId="3680"/>
          <ac:graphicFrameMkLst>
            <pc:docMk/>
            <pc:sldMk cId="968199429" sldId="270"/>
            <ac:graphicFrameMk id="4" creationId="{E4766874-AC36-27E5-76AA-023E87565C3B}"/>
          </ac:graphicFrameMkLst>
        </pc:graphicFrameChg>
        <pc:graphicFrameChg chg="add mod modGraphic">
          <ac:chgData name="harish babu" userId="9fd9bf826ad1fefb" providerId="LiveId" clId="{38E55BDF-70BF-4560-8B8E-3186CC4C51A8}" dt="2026-08-21T04:44:14.532" v="16" actId="14100"/>
          <ac:graphicFrameMkLst>
            <pc:docMk/>
            <pc:sldMk cId="968199429" sldId="270"/>
            <ac:graphicFrameMk id="5" creationId="{FE483FD2-F76E-F7A7-2891-AA523A74CD05}"/>
          </ac:graphicFrameMkLst>
        </pc:graphicFrameChg>
        <pc:graphicFrameChg chg="del">
          <ac:chgData name="harish babu" userId="9fd9bf826ad1fefb" providerId="LiveId" clId="{38E55BDF-70BF-4560-8B8E-3186CC4C51A8}" dt="2026-08-21T04:42:54.525" v="3" actId="478"/>
          <ac:graphicFrameMkLst>
            <pc:docMk/>
            <pc:sldMk cId="968199429" sldId="270"/>
            <ac:graphicFrameMk id="20" creationId="{6F6334B7-0199-27C0-AE8C-8D2BCB0EE1C9}"/>
          </ac:graphicFrameMkLst>
        </pc:graphicFrameChg>
      </pc:sldChg>
      <pc:sldChg chg="addSp delSp modSp add mod ord">
        <pc:chgData name="harish babu" userId="9fd9bf826ad1fefb" providerId="LiveId" clId="{38E55BDF-70BF-4560-8B8E-3186CC4C51A8}" dt="2026-08-21T05:28:58.446" v="173" actId="1076"/>
        <pc:sldMkLst>
          <pc:docMk/>
          <pc:sldMk cId="3587791754" sldId="271"/>
        </pc:sldMkLst>
        <pc:spChg chg="mod">
          <ac:chgData name="harish babu" userId="9fd9bf826ad1fefb" providerId="LiveId" clId="{38E55BDF-70BF-4560-8B8E-3186CC4C51A8}" dt="2026-08-21T05:16:43.671" v="105" actId="20577"/>
          <ac:spMkLst>
            <pc:docMk/>
            <pc:sldMk cId="3587791754" sldId="271"/>
            <ac:spMk id="2" creationId="{FFC2FAF8-9B40-BDDD-9AA2-EC1C73F7639C}"/>
          </ac:spMkLst>
        </pc:spChg>
        <pc:spChg chg="add del">
          <ac:chgData name="harish babu" userId="9fd9bf826ad1fefb" providerId="LiveId" clId="{38E55BDF-70BF-4560-8B8E-3186CC4C51A8}" dt="2026-08-21T05:12:12.612" v="65" actId="22"/>
          <ac:spMkLst>
            <pc:docMk/>
            <pc:sldMk cId="3587791754" sldId="271"/>
            <ac:spMk id="4" creationId="{FBD5CAA8-EBAF-65D9-1A6C-70934E263B9F}"/>
          </ac:spMkLst>
        </pc:spChg>
        <pc:spChg chg="add mod">
          <ac:chgData name="harish babu" userId="9fd9bf826ad1fefb" providerId="LiveId" clId="{38E55BDF-70BF-4560-8B8E-3186CC4C51A8}" dt="2026-08-21T05:21:41.134" v="131" actId="2711"/>
          <ac:spMkLst>
            <pc:docMk/>
            <pc:sldMk cId="3587791754" sldId="271"/>
            <ac:spMk id="6" creationId="{ED42CFD0-652E-4BEB-DE80-BB8F519F2906}"/>
          </ac:spMkLst>
        </pc:spChg>
        <pc:spChg chg="add mod">
          <ac:chgData name="harish babu" userId="9fd9bf826ad1fefb" providerId="LiveId" clId="{38E55BDF-70BF-4560-8B8E-3186CC4C51A8}" dt="2026-08-21T05:22:03.956" v="133" actId="1076"/>
          <ac:spMkLst>
            <pc:docMk/>
            <pc:sldMk cId="3587791754" sldId="271"/>
            <ac:spMk id="11" creationId="{939FA2A1-CB6F-B529-7F08-21AC0AEDBD98}"/>
          </ac:spMkLst>
        </pc:spChg>
        <pc:picChg chg="add mod modCrop">
          <ac:chgData name="harish babu" userId="9fd9bf826ad1fefb" providerId="LiveId" clId="{38E55BDF-70BF-4560-8B8E-3186CC4C51A8}" dt="2026-08-21T05:20:30.473" v="122" actId="14100"/>
          <ac:picMkLst>
            <pc:docMk/>
            <pc:sldMk cId="3587791754" sldId="271"/>
            <ac:picMk id="8" creationId="{D545C306-453C-D063-EA4B-EEE023E87F12}"/>
          </ac:picMkLst>
        </pc:picChg>
        <pc:picChg chg="del">
          <ac:chgData name="harish babu" userId="9fd9bf826ad1fefb" providerId="LiveId" clId="{38E55BDF-70BF-4560-8B8E-3186CC4C51A8}" dt="2026-08-21T05:11:48.442" v="63" actId="478"/>
          <ac:picMkLst>
            <pc:docMk/>
            <pc:sldMk cId="3587791754" sldId="271"/>
            <ac:picMk id="9" creationId="{82A27E10-E185-4BCF-B3BC-117B8173848D}"/>
          </ac:picMkLst>
        </pc:picChg>
        <pc:picChg chg="add del mod modCrop">
          <ac:chgData name="harish babu" userId="9fd9bf826ad1fefb" providerId="LiveId" clId="{38E55BDF-70BF-4560-8B8E-3186CC4C51A8}" dt="2026-08-21T05:28:35.334" v="170" actId="478"/>
          <ac:picMkLst>
            <pc:docMk/>
            <pc:sldMk cId="3587791754" sldId="271"/>
            <ac:picMk id="26" creationId="{BDC0DA0E-F88B-929B-76C5-2C738EEFF5A3}"/>
          </ac:picMkLst>
        </pc:picChg>
        <pc:picChg chg="add mod modCrop">
          <ac:chgData name="harish babu" userId="9fd9bf826ad1fefb" providerId="LiveId" clId="{38E55BDF-70BF-4560-8B8E-3186CC4C51A8}" dt="2026-08-21T05:28:58.446" v="173" actId="1076"/>
          <ac:picMkLst>
            <pc:docMk/>
            <pc:sldMk cId="3587791754" sldId="271"/>
            <ac:picMk id="28" creationId="{8C45D2B1-6B93-8184-E0E3-A579DDD389CA}"/>
          </ac:picMkLst>
        </pc:picChg>
      </pc:sldChg>
      <pc:sldChg chg="addSp modSp add mod">
        <pc:chgData name="harish babu" userId="9fd9bf826ad1fefb" providerId="LiveId" clId="{38E55BDF-70BF-4560-8B8E-3186CC4C51A8}" dt="2026-08-21T05:16:27.947" v="92" actId="1076"/>
        <pc:sldMkLst>
          <pc:docMk/>
          <pc:sldMk cId="3152856652" sldId="272"/>
        </pc:sldMkLst>
        <pc:spChg chg="mod">
          <ac:chgData name="harish babu" userId="9fd9bf826ad1fefb" providerId="LiveId" clId="{38E55BDF-70BF-4560-8B8E-3186CC4C51A8}" dt="2026-08-21T05:16:27.947" v="92" actId="1076"/>
          <ac:spMkLst>
            <pc:docMk/>
            <pc:sldMk cId="3152856652" sldId="272"/>
            <ac:spMk id="2" creationId="{DE48A6F3-2657-E2FD-9173-35D8CC2F1289}"/>
          </ac:spMkLst>
        </pc:spChg>
        <pc:picChg chg="add mod">
          <ac:chgData name="harish babu" userId="9fd9bf826ad1fefb" providerId="LiveId" clId="{38E55BDF-70BF-4560-8B8E-3186CC4C51A8}" dt="2026-08-21T05:15:25.514" v="79" actId="1076"/>
          <ac:picMkLst>
            <pc:docMk/>
            <pc:sldMk cId="3152856652" sldId="272"/>
            <ac:picMk id="4" creationId="{817EA73D-BC3D-392E-6DCF-4C31F380676D}"/>
          </ac:picMkLst>
        </pc:picChg>
      </pc:sldChg>
      <pc:sldChg chg="addSp delSp modSp add mod">
        <pc:chgData name="harish babu" userId="9fd9bf826ad1fefb" providerId="LiveId" clId="{38E55BDF-70BF-4560-8B8E-3186CC4C51A8}" dt="2026-08-21T05:26:30.394" v="164" actId="14100"/>
        <pc:sldMkLst>
          <pc:docMk/>
          <pc:sldMk cId="3496686724" sldId="273"/>
        </pc:sldMkLst>
        <pc:spChg chg="del mod">
          <ac:chgData name="harish babu" userId="9fd9bf826ad1fefb" providerId="LiveId" clId="{38E55BDF-70BF-4560-8B8E-3186CC4C51A8}" dt="2026-08-21T05:25:30.640" v="149" actId="478"/>
          <ac:spMkLst>
            <pc:docMk/>
            <pc:sldMk cId="3496686724" sldId="273"/>
            <ac:spMk id="6" creationId="{0F7A7ADD-0358-2E4D-2265-B03B3F28E171}"/>
          </ac:spMkLst>
        </pc:spChg>
        <pc:spChg chg="mod">
          <ac:chgData name="harish babu" userId="9fd9bf826ad1fefb" providerId="LiveId" clId="{38E55BDF-70BF-4560-8B8E-3186CC4C51A8}" dt="2026-08-21T05:26:15.247" v="161" actId="1076"/>
          <ac:spMkLst>
            <pc:docMk/>
            <pc:sldMk cId="3496686724" sldId="273"/>
            <ac:spMk id="11" creationId="{C2362719-781C-5C25-EC92-2D1B14044122}"/>
          </ac:spMkLst>
        </pc:spChg>
        <pc:picChg chg="add del">
          <ac:chgData name="harish babu" userId="9fd9bf826ad1fefb" providerId="LiveId" clId="{38E55BDF-70BF-4560-8B8E-3186CC4C51A8}" dt="2026-08-21T05:25:39.290" v="151" actId="22"/>
          <ac:picMkLst>
            <pc:docMk/>
            <pc:sldMk cId="3496686724" sldId="273"/>
            <ac:picMk id="4" creationId="{F9EA8E99-96DC-1B7A-A555-9FE709CE1BE8}"/>
          </ac:picMkLst>
        </pc:picChg>
        <pc:picChg chg="del">
          <ac:chgData name="harish babu" userId="9fd9bf826ad1fefb" providerId="LiveId" clId="{38E55BDF-70BF-4560-8B8E-3186CC4C51A8}" dt="2026-08-21T05:25:13.382" v="147" actId="21"/>
          <ac:picMkLst>
            <pc:docMk/>
            <pc:sldMk cId="3496686724" sldId="273"/>
            <ac:picMk id="8" creationId="{F87E4EB1-B26D-40D7-DE29-9FA101B3F1AD}"/>
          </ac:picMkLst>
        </pc:picChg>
        <pc:picChg chg="mod">
          <ac:chgData name="harish babu" userId="9fd9bf826ad1fefb" providerId="LiveId" clId="{38E55BDF-70BF-4560-8B8E-3186CC4C51A8}" dt="2026-08-21T05:26:30.394" v="164" actId="14100"/>
          <ac:picMkLst>
            <pc:docMk/>
            <pc:sldMk cId="3496686724" sldId="273"/>
            <ac:picMk id="26" creationId="{6F7377F9-7405-6C81-70EB-B47975A7471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76279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D92EA842-3AD0-4688-A1D2-17CBC9850F92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63575" y="3226820"/>
            <a:ext cx="3859795" cy="3048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/>
            </a:lvl1pPr>
          </a:lstStyle>
          <a:p>
            <a:fld id="{13196C47-3B1F-4163-A90F-1593F039F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836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EA842-3AD0-4688-A1D2-17CBC9850F92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96C47-3B1F-4163-A90F-1593F039F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027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4"/>
            <a:ext cx="4351023" cy="2283823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EA842-3AD0-4688-A1D2-17CBC9850F92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96C47-3B1F-4163-A90F-1593F039F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110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1368" y="2603500"/>
            <a:ext cx="4828744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1" y="2603500"/>
            <a:ext cx="4825159" cy="337770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EA842-3AD0-4688-A1D2-17CBC9850F92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96C47-3B1F-4163-A90F-1593F039F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167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36063"/>
            <a:ext cx="48251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212326"/>
            <a:ext cx="4825158" cy="28074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1" y="2603499"/>
            <a:ext cx="4825160" cy="60882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212327"/>
            <a:ext cx="4825159" cy="28074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EA842-3AD0-4688-A1D2-17CBC9850F92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96C47-3B1F-4163-A90F-1593F039F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876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EA842-3AD0-4688-A1D2-17CBC9850F92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96C47-3B1F-4163-A90F-1593F039F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389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EA842-3AD0-4688-A1D2-17CBC9850F92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96C47-3B1F-4163-A90F-1593F039F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595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EA842-3AD0-4688-A1D2-17CBC9850F92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96C47-3B1F-4163-A90F-1593F039F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913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2" y="1143000"/>
            <a:ext cx="3227192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EA842-3AD0-4688-A1D2-17CBC9850F92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96C47-3B1F-4163-A90F-1593F039F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902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5945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2683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EA842-3AD0-4688-A1D2-17CBC9850F92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96C47-3B1F-4163-A90F-1593F039F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93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EA842-3AD0-4688-A1D2-17CBC9850F92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96C47-3B1F-4163-A90F-1593F039F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7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898295" y="603589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705137" y="261378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705034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86515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14393"/>
            <a:ext cx="8825659" cy="101266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EA842-3AD0-4688-A1D2-17CBC9850F92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4" name="Rectangle 23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96C47-3B1F-4163-A90F-1593F039F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2985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404477"/>
            <a:ext cx="8825659" cy="178870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8587" y="5024967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EA842-3AD0-4688-A1D2-17CBC9850F92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96C47-3B1F-4163-A90F-1593F039F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6826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09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87261"/>
            <a:ext cx="3129168" cy="28397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10999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87261"/>
            <a:ext cx="3145380" cy="28397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1" y="2603500"/>
            <a:ext cx="315744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87261"/>
            <a:ext cx="3161029" cy="283979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EA842-3AD0-4688-A1D2-17CBC9850F92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96C47-3B1F-4163-A90F-1593F039F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1706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20744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1246"/>
            <a:ext cx="2691242" cy="158376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20745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42840"/>
            <a:ext cx="2691242" cy="155217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7"/>
            <a:ext cx="3050438" cy="92140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18992"/>
            <a:ext cx="2691242" cy="157601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09107"/>
            <a:ext cx="3054127" cy="89634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EA842-3AD0-4688-A1D2-17CBC9850F92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96C47-3B1F-4163-A90F-1593F039F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336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EA842-3AD0-4688-A1D2-17CBC9850F92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96C47-3B1F-4163-A90F-1593F039F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3329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97430"/>
            <a:ext cx="1409965" cy="4729626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97429"/>
            <a:ext cx="6247546" cy="4729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EA842-3AD0-4688-A1D2-17CBC9850F92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96C47-3B1F-4163-A90F-1593F039F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771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407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92EA842-3AD0-4688-A1D2-17CBC9850F92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20" name="Rectangle 19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3196C47-3B1F-4163-A90F-1593F039F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354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09D18-A1E1-36D2-DDC1-D1DD2A6BF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0" y="-1198942"/>
            <a:ext cx="8825658" cy="2677648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PRATHYUSHA ENGINEERING COLLEGE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DEC7D9-E152-DAC8-A3A8-A97D064E2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64" y="534068"/>
            <a:ext cx="810826" cy="957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A58C76-7C9A-C298-F20F-3F60FC8C9C7E}"/>
              </a:ext>
            </a:extLst>
          </p:cNvPr>
          <p:cNvSpPr txBox="1"/>
          <p:nvPr/>
        </p:nvSpPr>
        <p:spPr>
          <a:xfrm>
            <a:off x="3746962" y="2373835"/>
            <a:ext cx="7610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: CSE – CYBER SECURITY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45480E-2BEC-2994-44D6-87828A90409D}"/>
              </a:ext>
            </a:extLst>
          </p:cNvPr>
          <p:cNvSpPr txBox="1"/>
          <p:nvPr/>
        </p:nvSpPr>
        <p:spPr>
          <a:xfrm>
            <a:off x="1744889" y="4639535"/>
            <a:ext cx="68091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: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HARISH B                                 - 11142301CB05016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STAINES CHRISTOPHER C   - 11142301CB05044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VASANTH N                             - 11142301CB05048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59E9F9-834E-C283-98F0-51A0F3A5097A}"/>
              </a:ext>
            </a:extLst>
          </p:cNvPr>
          <p:cNvSpPr txBox="1"/>
          <p:nvPr/>
        </p:nvSpPr>
        <p:spPr>
          <a:xfrm>
            <a:off x="2576051" y="3137353"/>
            <a:ext cx="7039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:AI CYBERSECURITY ASSISTANT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39C957-D20E-1FFA-52F0-F7A65CC0E415}"/>
              </a:ext>
            </a:extLst>
          </p:cNvPr>
          <p:cNvSpPr txBox="1"/>
          <p:nvPr/>
        </p:nvSpPr>
        <p:spPr>
          <a:xfrm>
            <a:off x="3647767" y="2743167"/>
            <a:ext cx="4906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 : MINI PROJECT</a:t>
            </a:r>
          </a:p>
        </p:txBody>
      </p:sp>
    </p:spTree>
    <p:extLst>
      <p:ext uri="{BB962C8B-B14F-4D97-AF65-F5344CB8AC3E}">
        <p14:creationId xmlns:p14="http://schemas.microsoft.com/office/powerpoint/2010/main" val="524354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42000"/>
                <a:hueMod val="42000"/>
                <a:satMod val="124000"/>
                <a:lumMod val="62000"/>
              </a:schemeClr>
              <a:schemeClr val="bg2">
                <a:tint val="96000"/>
                <a:satMod val="13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68858A2-3510-ACA8-1E74-194DDCE60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02AFA-611C-8AAA-6BD6-E1981B18D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cybersecurity systems mainly depend on fixed rules and known threat signatures. These systems may struggle to identify new phishing messages, suspicious user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previously unseen attacks.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also find it difficult to determine whether an email or message is safe or malicious.</a:t>
            </a:r>
          </a:p>
          <a:p>
            <a:pPr marL="0" indent="0" algn="just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Identified :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phishing and scam messages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identifying malicious messages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Unknown or new attack patterns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Unusual user activities may go unnoticed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volumes of security events are difficult to monitor manually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identification of suspicious activities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0308D749-5984-4BB8-A788-A85D24304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bg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rgbClr val="B31166"/>
              </a:solidFill>
            </a:endParaRP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95B8172D-A4C8-41B4-8991-78BBEC403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7718854" y="6391839"/>
            <a:ext cx="2997637" cy="30479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bg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b="1" dirty="0">
              <a:solidFill>
                <a:srgbClr val="B311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0596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63B918C-605E-4767-B8B8-07EE8E514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7A15320-BE68-4368-9AEC-EB121AA1D0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397429F-B09A-4755-85D6-5EF9C8EC1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79C0060-574D-48A1-896F-3BFA9E1D9A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42DA2D2-7E39-48E7-956A-5C5702872C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08AB3D2-317E-4043-A5BE-6D078F589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BE6F4C2-B396-47DA-9B43-7CBC55B98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2099893-51D2-4FDD-A8B8-99DE6A1F9C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9B387B19-E01F-4F0A-A984-04315236E1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994735CE-14A3-4759-8BDD-55844E0DA9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CD1763A-E8CE-4920-B58C-F41A62C86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3C445311-D23D-4257-8441-7D9AE2DDBF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51F4B3E-93E5-E3E8-A690-BFFB4DBF4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IN" sz="3200" b="1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50194-2189-25E2-330E-17D14FAE8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Cybersecurity Assistant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uses machine learning to identify suspicious messages and abnormal user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phishing messages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messages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or Phishing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phishing prediction confidence score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activity for abnormal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suspicious login patterns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activities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or Suspicious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simple cybersecurity dashboard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the need for manual security monitoring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378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63B918C-605E-4767-B8B8-07EE8E514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7A15320-BE68-4368-9AEC-EB121AA1D0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397429F-B09A-4755-85D6-5EF9C8EC1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79C0060-574D-48A1-896F-3BFA9E1D9A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42DA2D2-7E39-48E7-956A-5C5702872C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08AB3D2-317E-4043-A5BE-6D078F589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BE6F4C2-B396-47DA-9B43-7CBC55B98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2099893-51D2-4FDD-A8B8-99DE6A1F9C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9B387B19-E01F-4F0A-A984-04315236E1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994735CE-14A3-4759-8BDD-55844E0DA9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CD1763A-E8CE-4920-B58C-F41A62C86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3C445311-D23D-4257-8441-7D9AE2DDBF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1109D3-759B-7261-9049-CCB3BEC37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6" y="1130603"/>
            <a:ext cx="4097593" cy="4596794"/>
          </a:xfrm>
        </p:spPr>
        <p:txBody>
          <a:bodyPr anchor="ctr">
            <a:normAutofit/>
          </a:bodyPr>
          <a:lstStyle/>
          <a:p>
            <a:r>
              <a:rPr lang="en-IN" sz="3200" b="1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22468-CC9F-378A-DDC1-D4D30E326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cybersecurity solutions commonly use rule-based detection and predefined signatures to identify known threats.</a:t>
            </a:r>
          </a:p>
          <a:p>
            <a:pPr marL="0" indent="0" algn="just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heavily on predefined rules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detect new phishing patterns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easily identify unknown threats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continuous manual updates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numbers of alerts can overwhelm users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understanding of individual user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generate false positives</a:t>
            </a:r>
          </a:p>
        </p:txBody>
      </p:sp>
    </p:spTree>
    <p:extLst>
      <p:ext uri="{BB962C8B-B14F-4D97-AF65-F5344CB8AC3E}">
        <p14:creationId xmlns:p14="http://schemas.microsoft.com/office/powerpoint/2010/main" val="2291387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8DCF6162-C90D-43BF-B7E4-A7B29A1619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6895F9A-4951-41A7-988E-E4426D51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973CCBF7-E635-45F0-9262-B1378FECE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95F2453-17DE-4864-ADA2-6D234F95CF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44DD539-16E2-48D1-9557-24281434BA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25EA950-BF18-4722-B2FD-04D357983F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7E71AB5E-77FB-4315-8B22-845D24C70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27ED4165-1756-4A80-90B1-FFF8AD7F2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Freeform 5">
              <a:extLst>
                <a:ext uri="{FF2B5EF4-FFF2-40B4-BE49-F238E27FC236}">
                  <a16:creationId xmlns:a16="http://schemas.microsoft.com/office/drawing/2014/main" id="{0C1FF9ED-0EB6-4CEF-83F7-B57912977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3F4860A4-6A75-4E92-905D-FA03EEDB8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93FEA1-29B0-75B5-48DE-96CBEBC9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7112" y="1240936"/>
            <a:ext cx="3161016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500" b="1" i="0" kern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BCDA284-4169-467B-80C1-BBDF26B20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D5268F1-2FCC-42C8-B308-9F87447966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Freeform 5">
              <a:extLst>
                <a:ext uri="{FF2B5EF4-FFF2-40B4-BE49-F238E27FC236}">
                  <a16:creationId xmlns:a16="http://schemas.microsoft.com/office/drawing/2014/main" id="{71C38273-377C-4D45-98FA-F4BAFBCA8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Freeform 5">
              <a:extLst>
                <a:ext uri="{FF2B5EF4-FFF2-40B4-BE49-F238E27FC236}">
                  <a16:creationId xmlns:a16="http://schemas.microsoft.com/office/drawing/2014/main" id="{A4617A93-13E2-4F76-AB78-7A0210391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909C5C-799B-946B-A7FD-345186C20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104061"/>
              </p:ext>
            </p:extLst>
          </p:nvPr>
        </p:nvGraphicFramePr>
        <p:xfrm>
          <a:off x="96330" y="464845"/>
          <a:ext cx="7875728" cy="5990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1699">
                  <a:extLst>
                    <a:ext uri="{9D8B030D-6E8A-4147-A177-3AD203B41FA5}">
                      <a16:colId xmlns:a16="http://schemas.microsoft.com/office/drawing/2014/main" val="4221522501"/>
                    </a:ext>
                  </a:extLst>
                </a:gridCol>
                <a:gridCol w="2674374">
                  <a:extLst>
                    <a:ext uri="{9D8B030D-6E8A-4147-A177-3AD203B41FA5}">
                      <a16:colId xmlns:a16="http://schemas.microsoft.com/office/drawing/2014/main" val="1450602731"/>
                    </a:ext>
                  </a:extLst>
                </a:gridCol>
                <a:gridCol w="2399071">
                  <a:extLst>
                    <a:ext uri="{9D8B030D-6E8A-4147-A177-3AD203B41FA5}">
                      <a16:colId xmlns:a16="http://schemas.microsoft.com/office/drawing/2014/main" val="1174099329"/>
                    </a:ext>
                  </a:extLst>
                </a:gridCol>
                <a:gridCol w="1950584">
                  <a:extLst>
                    <a:ext uri="{9D8B030D-6E8A-4147-A177-3AD203B41FA5}">
                      <a16:colId xmlns:a16="http://schemas.microsoft.com/office/drawing/2014/main" val="1263045622"/>
                    </a:ext>
                  </a:extLst>
                </a:gridCol>
              </a:tblGrid>
              <a:tr h="408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Findings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564106"/>
                  </a:ext>
                </a:extLst>
              </a:tr>
              <a:tr h="1008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2022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Phishing Email Detection Using NLP Techniques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NLP improves phishing email detection.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Phishing patterns keep changing.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6101905"/>
                  </a:ext>
                </a:extLst>
              </a:tr>
              <a:tr h="1008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2022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Phishing URL Detection: A Real-Case Scenario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ML effectively detects phishing URLs.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Performance drops on newer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6681513"/>
                  </a:ext>
                </a:extLst>
              </a:tr>
              <a:tr h="1008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2019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 dirty="0"/>
                        <a:t>Phishing Email Detection Using Robust NLP Techniques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NLP techniques help identify phishing emails.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Depends on effective text features.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1186253"/>
                  </a:ext>
                </a:extLst>
              </a:tr>
              <a:tr h="1124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2022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UEBA Log Data Set for Anomaly Detection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UEBA supports user-behavior anomaly detection.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Dataset focuses on cloud environments.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0637320"/>
                  </a:ext>
                </a:extLst>
              </a:tr>
              <a:tr h="1065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2022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Anomaly Detection Using UEBA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UEBA identifies unusual user activity.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Requires sufficient activity/log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1841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9863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63B918C-605E-4767-B8B8-07EE8E514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7A15320-BE68-4368-9AEC-EB121AA1D0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397429F-B09A-4755-85D6-5EF9C8EC1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79C0060-574D-48A1-896F-3BFA9E1D9A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42DA2D2-7E39-48E7-956A-5C5702872C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08AB3D2-317E-4043-A5BE-6D078F589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BE6F4C2-B396-47DA-9B43-7CBC55B98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2099893-51D2-4FDD-A8B8-99DE6A1F9C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9B387B19-E01F-4F0A-A984-04315236E1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994735CE-14A3-4759-8BDD-55844E0DA9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CD1763A-E8CE-4920-B58C-F41A62C86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3C445311-D23D-4257-8441-7D9AE2DDBF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F991812-5ED8-EAF6-A7F9-0138D92D6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935" y="1130603"/>
            <a:ext cx="4110476" cy="4596794"/>
          </a:xfrm>
        </p:spPr>
        <p:txBody>
          <a:bodyPr anchor="ctr">
            <a:normAutofit/>
          </a:bodyPr>
          <a:lstStyle/>
          <a:p>
            <a:r>
              <a:rPr lang="en-IN" sz="3200" b="1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C9CE1-1C6A-4456-84EF-917999033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664" y="353537"/>
            <a:ext cx="7151336" cy="5954325"/>
          </a:xfrm>
        </p:spPr>
        <p:txBody>
          <a:bodyPr anchor="ctr"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Cybersecurity Assistant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machine learning and data-driven analysis to identify cybersecurity threats.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contains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main modules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AI Phishing Detection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+ TF-IDF + Logistic Regression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messages and classify them as:</a:t>
            </a: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/ Phishing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User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Anomaly Detection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activity and identify:</a:t>
            </a: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/ Suspicious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message detection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NLP-based text analysis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classification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monitoring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Confidence/result display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dashboard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analysis of submitted data </a:t>
            </a:r>
          </a:p>
        </p:txBody>
      </p:sp>
    </p:spTree>
    <p:extLst>
      <p:ext uri="{BB962C8B-B14F-4D97-AF65-F5344CB8AC3E}">
        <p14:creationId xmlns:p14="http://schemas.microsoft.com/office/powerpoint/2010/main" val="1564424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7E8AB56-819A-49B9-B5F6-C1096F693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557D528-A227-4B3B-9023-2F3D0781F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8901DC2-8B37-4756-A389-A0681334D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E78D4E0-3EA7-43AA-AE34-F34662B0F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C70AAAD-4EB0-43E3-8E4D-75F92B4606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49D2068-B206-421D-91CC-778F558C6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00A61BF-A68C-44B8-90D9-A4FB9BAED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155D1C5-E5FE-48DE-8EA7-7BA3A72E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514D1785-2D2F-4A7B-B13B-570D681DC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5E20AD47-8779-41F6-A0A5-0A36409AA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77AAA6D-9071-4CA2-BEC8-F5C2E8132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23A94EDD-AB7C-4C78-A68E-AFE4CF15B4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5869CFF-ECBC-69A6-C9A2-EB83A1C88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94" y="2182408"/>
            <a:ext cx="3916642" cy="180738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DC29B9-9A1E-484D-9BE4-A6BC330C6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908E3A-CF3D-1FEC-FC25-04CD1F86E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933" y="-580103"/>
            <a:ext cx="7754582" cy="743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99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24E39E-1641-D10A-25CF-DE32A481F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C10BFE6-5CEC-1A7D-ADDC-818EE639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D670015-3376-95AB-E666-03DBF87528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8875E06-2AB1-44D4-E800-2A3B364EBD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5D84DCA-49C5-0F92-030B-137A18924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F213C82-2AE9-B6C6-2F48-82C41D46F5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E559999-7899-2D0B-83E0-2BBA6EA8C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7A16546-87D9-355C-5146-D7E1E57A56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8EBE848-BC67-628D-D95D-E9384B26B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03603A53-9ECC-54F0-7B20-34D4F3EB5D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BE0C1ED8-0A58-2C30-3ADD-09F331326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7A9B58-24C7-91E2-2691-BF9E08EB84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799F9165-5BD2-F574-CEF9-73673639B7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48A6F3-2657-E2FD-9173-35D8CC2F1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225" y="2525306"/>
            <a:ext cx="3516192" cy="1807383"/>
          </a:xfrm>
        </p:spPr>
        <p:txBody>
          <a:bodyPr>
            <a:normAutofit/>
          </a:bodyPr>
          <a:lstStyle/>
          <a:p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MODULES</a:t>
            </a:r>
            <a:endParaRPr lang="en-IN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EBA9B6-2632-8441-E02B-3E5840FA3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7EA73D-BC3D-392E-6DCF-4C31F3806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066" y="477941"/>
            <a:ext cx="8209934" cy="590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856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C873DF-AF41-FB45-B343-31452E6F4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AA59796-DAD5-9644-C154-1A126CBB9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786E76F-AEA2-4F63-CAA2-E15267884D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DD25E6E-9071-A0C3-B892-253986B555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DB17286-75CB-A6A0-5342-7DDB4AB769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0CDD7B6-BA7C-68F3-A16D-B72277D15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FA0CE93-4FA5-0939-3294-95362363B4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C9F2F57-7E3B-6C7A-2148-6F8FE04DC0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3287C69-064A-9802-8E97-5FF1CC080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2029E4F4-75A7-08B7-47CF-5ED9960F0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5E744C0F-4F46-6BBF-A797-D35F6A916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0FE0D0A-5BD8-D518-6E8A-E70E941D8D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A83C7C75-E6C4-C85B-32C7-75DF8A0D35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FC2FAF8-9B40-BDDD-9AA2-EC1C73F76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691" y="2182408"/>
            <a:ext cx="3916642" cy="180738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COMPLETED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E04485-1DE7-417E-B123-45A12817B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42CFD0-652E-4BEB-DE80-BB8F519F2906}"/>
              </a:ext>
            </a:extLst>
          </p:cNvPr>
          <p:cNvSpPr txBox="1"/>
          <p:nvPr/>
        </p:nvSpPr>
        <p:spPr>
          <a:xfrm>
            <a:off x="5142960" y="21040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Dataset Preparation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phishing_data.csv created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&amp; Phishing messages prepared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45C306-453C-D063-EA4B-EEE023E87F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84" r="11135" b="9475"/>
          <a:stretch>
            <a:fillRect/>
          </a:stretch>
        </p:blipFill>
        <p:spPr>
          <a:xfrm>
            <a:off x="5218652" y="1211825"/>
            <a:ext cx="5904960" cy="22171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39FA2A1-CB6F-B529-7F08-21AC0AEDBD98}"/>
              </a:ext>
            </a:extLst>
          </p:cNvPr>
          <p:cNvSpPr txBox="1"/>
          <p:nvPr/>
        </p:nvSpPr>
        <p:spPr>
          <a:xfrm>
            <a:off x="5218652" y="35070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2.Model Development 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C45D2B1-6B93-8184-E0E3-A579DDD389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065" t="14911" r="46888" b="48516"/>
          <a:stretch>
            <a:fillRect/>
          </a:stretch>
        </p:blipFill>
        <p:spPr>
          <a:xfrm>
            <a:off x="5254907" y="3893574"/>
            <a:ext cx="5868705" cy="250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791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573A22-6101-3D39-F81C-468F9369A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69F44FB-A5B1-5200-6107-C3E7E3850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FA964F1-6A90-C3B5-AAE8-06DE6500A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A2ECD-98CF-17DB-9966-A8E8E9EE54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B5DA154-25A3-888A-6B65-98D347C199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5BAFD07-A1BD-36BC-34E4-87EF03567B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FF9B14E-35A7-4F5B-73BF-65EEAF59A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2FC91B8-0C18-376A-4754-189B9E9AA7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6CF247F-98B8-AAEE-C90D-108DAACB70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E8B8E4D1-4806-FC7B-81C5-7B545979E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19CB0EE0-A28B-93F3-3D8B-ED8B079E1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72C0EF3-5686-B2FA-E76C-02626354DB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00A41851-7A7C-A632-A809-D2F06E0C7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B65C463-43AA-B49E-4EE8-5C706CCF1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691" y="2182408"/>
            <a:ext cx="3916642" cy="180738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COMPLETED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B99463-BCD9-9CD8-0665-848FA201B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362719-781C-5C25-EC92-2D1B14044122}"/>
              </a:ext>
            </a:extLst>
          </p:cNvPr>
          <p:cNvSpPr txBox="1"/>
          <p:nvPr/>
        </p:nvSpPr>
        <p:spPr>
          <a:xfrm>
            <a:off x="5218652" y="4323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3.Working Application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F7377F9-7405-6C81-70EB-B47975A747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207" t="15197" r="18964" b="7814"/>
          <a:stretch>
            <a:fillRect/>
          </a:stretch>
        </p:blipFill>
        <p:spPr>
          <a:xfrm>
            <a:off x="5142706" y="942873"/>
            <a:ext cx="5980906" cy="381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686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DCF6162-C90D-43BF-B7E4-A7B29A1619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895F9A-4951-41A7-988E-E4426D51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73CCBF7-E635-45F0-9262-B1378FECE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95F2453-17DE-4864-ADA2-6D234F95CF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44DD539-16E2-48D1-9557-24281434BA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25EA950-BF18-4722-B2FD-04D357983F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71AB5E-77FB-4315-8B22-845D24C70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7ED4165-1756-4A80-90B1-FFF8AD7F2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0C1FF9ED-0EB6-4CEF-83F7-B57912977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3F4860A4-6A75-4E92-905D-FA03EEDB8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1678C-1FE4-B9FD-5A68-A0F7841C6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5" y="1241266"/>
            <a:ext cx="3161016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500" b="1" i="0" kern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BCDA284-4169-467B-80C1-BBDF26B20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D5268F1-2FCC-42C8-B308-9F87447966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71C38273-377C-4D45-98FA-F4BAFBCA8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A4617A93-13E2-4F76-AB78-7A0210391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BDA1D05-EAB4-24FD-FA55-81ACB37CFE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350853"/>
              </p:ext>
            </p:extLst>
          </p:nvPr>
        </p:nvGraphicFramePr>
        <p:xfrm>
          <a:off x="510310" y="227811"/>
          <a:ext cx="6908231" cy="6228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9715">
                  <a:extLst>
                    <a:ext uri="{9D8B030D-6E8A-4147-A177-3AD203B41FA5}">
                      <a16:colId xmlns:a16="http://schemas.microsoft.com/office/drawing/2014/main" val="642890209"/>
                    </a:ext>
                  </a:extLst>
                </a:gridCol>
                <a:gridCol w="1978516">
                  <a:extLst>
                    <a:ext uri="{9D8B030D-6E8A-4147-A177-3AD203B41FA5}">
                      <a16:colId xmlns:a16="http://schemas.microsoft.com/office/drawing/2014/main" val="2643735143"/>
                    </a:ext>
                  </a:extLst>
                </a:gridCol>
              </a:tblGrid>
              <a:tr h="512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2543627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Requirement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Week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3370927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Problem &amp; Dataset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5254079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System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980962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Dataset Preparation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7123404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NLP Model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1308596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Phishing Detection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Week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942323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Behavior Anomaly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2850895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Streamlit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7396420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4820763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74172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Final 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Week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9617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89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4F7C3A-69F8-B21A-AAAD-9852259C9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14A20CD-0AF5-0137-2F8B-75147C4B03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02FF64-FA00-569B-CBE2-736C94E9D3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45E5180-CBF6-8995-4663-F418EDBEA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A83A062-F2CC-5AAD-A170-6CE2CCE4FF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5BB3D78-2E4E-2BD0-6FF6-09B660A7A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373F8C5-195A-6E0A-CCFA-3A785FC0A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A87974-804B-4F81-24FD-5D8CA79C4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BE7C4AA-500C-845D-2AFC-D56E42D16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5A529CCD-D7D6-F8F1-4AA5-1BAEDD10A1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29B8F00D-91C8-09C4-5AD3-0EEF8B2F1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779C48-EB42-7DA4-025A-98ACE4431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5702" y="2633289"/>
            <a:ext cx="3447369" cy="142379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US" sz="3500" b="1" i="0" kern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1D017E7-E6B7-5E64-C5C3-A293DD458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08CE8AE-3A73-AC96-A3A6-C38439A36D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ECB39E8C-5B1C-6B0E-7BDE-C563B6EFB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B85E8D90-BB13-E37C-B249-E7E052AD6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E483FD2-F76E-F7A7-2891-AA523A74C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699202"/>
              </p:ext>
            </p:extLst>
          </p:nvPr>
        </p:nvGraphicFramePr>
        <p:xfrm>
          <a:off x="295910" y="315778"/>
          <a:ext cx="6573616" cy="6053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6808">
                  <a:extLst>
                    <a:ext uri="{9D8B030D-6E8A-4147-A177-3AD203B41FA5}">
                      <a16:colId xmlns:a16="http://schemas.microsoft.com/office/drawing/2014/main" val="1056258142"/>
                    </a:ext>
                  </a:extLst>
                </a:gridCol>
                <a:gridCol w="3286808">
                  <a:extLst>
                    <a:ext uri="{9D8B030D-6E8A-4147-A177-3AD203B41FA5}">
                      <a16:colId xmlns:a16="http://schemas.microsoft.com/office/drawing/2014/main" val="647334759"/>
                    </a:ext>
                  </a:extLst>
                </a:gridCol>
              </a:tblGrid>
              <a:tr h="550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66545"/>
                  </a:ext>
                </a:extLst>
              </a:tr>
              <a:tr h="550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Programming Language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2770745"/>
                  </a:ext>
                </a:extLst>
              </a:tr>
              <a:tr h="550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Machine Learning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Scikit-learn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1094666"/>
                  </a:ext>
                </a:extLst>
              </a:tr>
              <a:tr h="550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NLP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TF-IDF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106135"/>
                  </a:ext>
                </a:extLst>
              </a:tr>
              <a:tr h="550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Classification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Logistic Regression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6726660"/>
                  </a:ext>
                </a:extLst>
              </a:tr>
              <a:tr h="550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Anomaly Detection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Isolation Forest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3502676"/>
                  </a:ext>
                </a:extLst>
              </a:tr>
              <a:tr h="550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 Processing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Pandas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355378"/>
                  </a:ext>
                </a:extLst>
              </a:tr>
              <a:tr h="550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Web Framework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Streamlit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2429178"/>
                  </a:ext>
                </a:extLst>
              </a:tr>
              <a:tr h="550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Model Storage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Joblib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207056"/>
                  </a:ext>
                </a:extLst>
              </a:tr>
              <a:tr h="550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Dataset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CSV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6047541"/>
                  </a:ext>
                </a:extLst>
              </a:tr>
              <a:tr h="550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Development Tool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VS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0041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8199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63B918C-605E-4767-B8B8-07EE8E514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7A15320-BE68-4368-9AEC-EB121AA1D0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397429F-B09A-4755-85D6-5EF9C8EC1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79C0060-574D-48A1-896F-3BFA9E1D9A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42DA2D2-7E39-48E7-956A-5C5702872C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08AB3D2-317E-4043-A5BE-6D078F589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BE6F4C2-B396-47DA-9B43-7CBC55B98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2099893-51D2-4FDD-A8B8-99DE6A1F9C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9B387B19-E01F-4F0A-A984-04315236E1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994735CE-14A3-4759-8BDD-55844E0DA9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CD1763A-E8CE-4920-B58C-F41A62C86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3C445311-D23D-4257-8441-7D9AE2DDBF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0905268-7204-98B9-DF3C-22CCD4136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8" y="1130603"/>
            <a:ext cx="3648271" cy="4596794"/>
          </a:xfrm>
        </p:spPr>
        <p:txBody>
          <a:bodyPr anchor="ctr">
            <a:normAutofit/>
          </a:bodyPr>
          <a:lstStyle/>
          <a:p>
            <a:r>
              <a:rPr lang="en-IN" sz="3200" b="1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DB251-B830-1763-2C20-5B2F13619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5466" y="608335"/>
            <a:ext cx="3100947" cy="5954325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dataset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technologies </a:t>
            </a:r>
          </a:p>
          <a:p>
            <a:pPr marL="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Feasibility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developed in phases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module can be completed first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can be added afterward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presentation can follow 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F0E1CE-E64E-4E1B-5E3A-70015887D3E3}"/>
              </a:ext>
            </a:extLst>
          </p:cNvPr>
          <p:cNvSpPr txBox="1"/>
          <p:nvPr/>
        </p:nvSpPr>
        <p:spPr>
          <a:xfrm>
            <a:off x="8739943" y="608335"/>
            <a:ext cx="3734655" cy="3727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</a:t>
            </a:r>
          </a:p>
          <a:p>
            <a:pPr marL="171450" lvl="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expensive software required </a:t>
            </a:r>
          </a:p>
          <a:p>
            <a:pPr marL="171450" lvl="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libraries </a:t>
            </a:r>
          </a:p>
          <a:p>
            <a:pPr marL="171450" lvl="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development cost </a:t>
            </a:r>
          </a:p>
          <a:p>
            <a:pPr marL="171450" lvl="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run on a normal laptop </a:t>
            </a:r>
          </a:p>
          <a:p>
            <a:pPr>
              <a:lnSpc>
                <a:spcPct val="200000"/>
              </a:lnSpc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</a:t>
            </a:r>
          </a:p>
          <a:p>
            <a:pPr marL="171450" lvl="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user interface </a:t>
            </a:r>
          </a:p>
          <a:p>
            <a:pPr marL="171450" lvl="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message analysis </a:t>
            </a:r>
          </a:p>
          <a:p>
            <a:pPr marL="171450" lvl="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Easy-to-understand results </a:t>
            </a:r>
          </a:p>
          <a:p>
            <a:pPr marL="171450" lvl="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Dashboard-based monitoring </a:t>
            </a:r>
          </a:p>
        </p:txBody>
      </p:sp>
    </p:spTree>
    <p:extLst>
      <p:ext uri="{BB962C8B-B14F-4D97-AF65-F5344CB8AC3E}">
        <p14:creationId xmlns:p14="http://schemas.microsoft.com/office/powerpoint/2010/main" val="3341570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B4A56-BD7B-F427-CD2C-AD64EC566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B2E75-2513-6C1E-92F7-8D501E377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534673"/>
            <a:ext cx="9680194" cy="4003777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phishing messages using AI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NLP for text analysis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abnormal user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monitoring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quick security predictions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user-friendly interface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open-source technologies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expanded with additional AI models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multiple cybersecurity detection techniques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educational and demonstration purposes</a:t>
            </a:r>
          </a:p>
        </p:txBody>
      </p:sp>
    </p:spTree>
    <p:extLst>
      <p:ext uri="{BB962C8B-B14F-4D97-AF65-F5344CB8AC3E}">
        <p14:creationId xmlns:p14="http://schemas.microsoft.com/office/powerpoint/2010/main" val="2658113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42000"/>
                <a:hueMod val="42000"/>
                <a:satMod val="124000"/>
                <a:lumMod val="62000"/>
              </a:schemeClr>
              <a:schemeClr val="bg2">
                <a:tint val="96000"/>
                <a:satMod val="13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CE1591-A41E-4885-AF03-A177B7387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84D250-55AA-8D27-9297-678CC1B0F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491613"/>
            <a:ext cx="6383684" cy="5810864"/>
          </a:xfrm>
        </p:spPr>
        <p:txBody>
          <a:bodyPr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References</a:t>
            </a:r>
          </a:p>
          <a:p>
            <a:pPr algn="just">
              <a:lnSpc>
                <a:spcPct val="150000"/>
              </a:lnSpc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Salloum, T. Gaber, S. Vadera, and K. Shaalan, “A Systematic Literature Review on Phishing Email Detection Using Natural Language Processing Techniques,”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10, pp. 65703–65727, 2022,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10.1109/ACCESS.2022.3183083. </a:t>
            </a:r>
          </a:p>
          <a:p>
            <a:pPr algn="just">
              <a:lnSpc>
                <a:spcPct val="150000"/>
              </a:lnSpc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A. Adebowale, K. T. Lwin, M. A. Hossain, and M. A. Islam, “Phishing detection: A recent intelligent machine learning comparison based on models content and features,” in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IEEE Int. Conf. Intelligence and Security Informatics (ISI)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2017,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10.1109/ISI.2017.8004877. </a:t>
            </a:r>
          </a:p>
          <a:p>
            <a:pPr algn="just">
              <a:lnSpc>
                <a:spcPct val="150000"/>
              </a:lnSpc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Moradpoor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Clavie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W. J. Buchanan, “Employing machine learning techniques for detection and classification of phishing emails,” in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IEEE Computing Conference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2017,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10.1109/SAI.2017.8252096.</a:t>
            </a:r>
          </a:p>
          <a:p>
            <a:pPr algn="just">
              <a:lnSpc>
                <a:spcPct val="150000"/>
              </a:lnSpc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L. F. Gutiérrez, F. Abri, M. Armstrong, A. S.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Namin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K. S. Jones, “Email Embeddings for Phishing Detection,” in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IEEE Int. Conf. Big Data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2020. </a:t>
            </a:r>
          </a:p>
          <a:p>
            <a:pPr algn="just">
              <a:lnSpc>
                <a:spcPct val="150000"/>
              </a:lnSpc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Shashanka, M.-Y. Shen, and J. Wang, “User and Entity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Analytics for Enterprise Security,” in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IEEE Int. Conf. Big Data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2016, pp. 1867–1874,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10.1109/BigData.2016.7840805.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308D749-5984-4BB8-A788-A85D24304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bg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rgbClr val="B31166"/>
              </a:solidFill>
            </a:endParaRP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95B8172D-A4C8-41B4-8991-78BBEC403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7718854" y="6391839"/>
            <a:ext cx="2997637" cy="30479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bg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b="1" dirty="0">
              <a:solidFill>
                <a:srgbClr val="B311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8742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DCF6162-C90D-43BF-B7E4-A7B29A1619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895F9A-4951-41A7-988E-E4426D51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73CCBF7-E635-45F0-9262-B1378FECE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95F2453-17DE-4864-ADA2-6D234F95CF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44DD539-16E2-48D1-9557-24281434BA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25EA950-BF18-4722-B2FD-04D357983F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E71AB5E-77FB-4315-8B22-845D24C70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7ED4165-1756-4A80-90B1-FFF8AD7F2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0C1FF9ED-0EB6-4CEF-83F7-B57912977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3F4860A4-6A75-4E92-905D-FA03EEDB8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8D4D8D-4411-108A-0891-A2AEF8A46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825" y="1143000"/>
            <a:ext cx="6268246" cy="313403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i="0" kern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1850D1D3-FEBA-FE6D-0283-67B3168DD2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764" y="1661911"/>
            <a:ext cx="3531062" cy="353106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01132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179</TotalTime>
  <Words>965</Words>
  <Application>Microsoft Office PowerPoint</Application>
  <PresentationFormat>Widescreen</PresentationFormat>
  <Paragraphs>186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Century Gothic</vt:lpstr>
      <vt:lpstr>Times New Roman</vt:lpstr>
      <vt:lpstr>Wingdings</vt:lpstr>
      <vt:lpstr>Wingdings 3</vt:lpstr>
      <vt:lpstr>Ion Boardroom</vt:lpstr>
      <vt:lpstr>PRATHYUSHA ENGINEERING COLLEGE</vt:lpstr>
      <vt:lpstr>PROBLEM STATEMENT</vt:lpstr>
      <vt:lpstr>OBJECTIVES</vt:lpstr>
      <vt:lpstr>EXISTING SYSTEM</vt:lpstr>
      <vt:lpstr>LITERATURE SURVEY</vt:lpstr>
      <vt:lpstr>PROPOSED SYSTEM</vt:lpstr>
      <vt:lpstr>System Architecture</vt:lpstr>
      <vt:lpstr>LIST OF MODULES</vt:lpstr>
      <vt:lpstr>MODULES COMPLETED</vt:lpstr>
      <vt:lpstr>MODULES COMPLETED</vt:lpstr>
      <vt:lpstr>PROJECT TIMELINE</vt:lpstr>
      <vt:lpstr>TECHNOLOGY STACK</vt:lpstr>
      <vt:lpstr>FEASIBILITY OF THE PROJECT</vt:lpstr>
      <vt:lpstr>ADVANTAGES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ABHIRAM ATTANTI</dc:creator>
  <cp:lastModifiedBy>harish babu</cp:lastModifiedBy>
  <cp:revision>17</cp:revision>
  <dcterms:created xsi:type="dcterms:W3CDTF">2026-07-23T16:49:00Z</dcterms:created>
  <dcterms:modified xsi:type="dcterms:W3CDTF">2026-08-21T05:29:00Z</dcterms:modified>
</cp:coreProperties>
</file>